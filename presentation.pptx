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280160"/>
            <a:ext cx="1371600" cy="73152"/>
          </a:xfrm>
          <a:prstGeom prst="rect">
            <a:avLst/>
          </a:prstGeom>
          <a:solidFill>
            <a:srgbClr val="0EA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463040"/>
            <a:ext cx="10058400" cy="2011680"/>
          </a:xfrm>
          <a:prstGeom prst="rect">
            <a:avLst/>
          </a:prstGeom>
          <a:noFill/>
        </p:spPr>
        <p:txBody>
          <a:bodyPr wrap="square">
            <a:spAutoFit/>
          </a:bodyPr>
          <a:lstStyle/>
          <a:p>
            <a:pPr>
              <a:defRPr sz="3200" b="1">
                <a:solidFill>
                  <a:srgbClr val="FFFFFF"/>
                </a:solidFill>
                <a:latin typeface="Arial"/>
              </a:defRPr>
            </a:pPr>
            <a:r>
              <a:t>Chest X-Ray Multi-Disease Detection &amp;</a:t>
            </a:r>
            <a:br/>
            <a:r>
              <a:t>Grad-CAM Explainability System</a:t>
            </a:r>
          </a:p>
          <a:p>
            <a:pPr>
              <a:spcBef>
                <a:spcPts val="1000"/>
              </a:spcBef>
              <a:defRPr sz="1500">
                <a:solidFill>
                  <a:srgbClr val="CBD5E1"/>
                </a:solidFill>
                <a:latin typeface="Arial"/>
              </a:defRPr>
            </a:pPr>
            <a:r>
              <a:t>A Dual-Model ResNet50 Deep Learning Ensemble with Visual Saliency Explanations for Thoracic Radiography</a:t>
            </a:r>
          </a:p>
        </p:txBody>
      </p:sp>
      <p:sp>
        <p:nvSpPr>
          <p:cNvPr id="5" name="Rounded Rectangle 4"/>
          <p:cNvSpPr/>
          <p:nvPr/>
        </p:nvSpPr>
        <p:spPr>
          <a:xfrm>
            <a:off x="1097280" y="3931920"/>
            <a:ext cx="9966960" cy="2011680"/>
          </a:xfrm>
          <a:prstGeom prst="roundRect">
            <a:avLst/>
          </a:prstGeom>
          <a:solidFill>
            <a:srgbClr val="183052"/>
          </a:solidFill>
          <a:ln w="12700">
            <a:solidFill>
              <a:srgbClr val="2D4B73"/>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1300" b="1">
                <a:solidFill>
                  <a:srgbClr val="0EA5A0"/>
                </a:solidFill>
                <a:latin typeface="Arial"/>
              </a:defRPr>
            </a:pPr>
            <a:r>
              <a:t>B.Tech Final Year Major Project Examination / Viva Voce</a:t>
            </a:r>
          </a:p>
          <a:p>
            <a:pPr>
              <a:spcBef>
                <a:spcPts val="600"/>
              </a:spcBef>
              <a:defRPr sz="1100">
                <a:solidFill>
                  <a:srgbClr val="F1F5F9"/>
                </a:solidFill>
                <a:latin typeface="Arial"/>
              </a:defRPr>
            </a:pPr>
            <a:r>
              <a:t>• Student Name / Roll No:  [Student Name — Roll Number / ID] (Editable Placeholder)</a:t>
            </a:r>
            <a:br/>
            <a:r>
              <a:t>• Project Supervisor / Guide:  [Supervisor / Faculty Advisor Name] (Editable Placeholder)</a:t>
            </a:r>
            <a:br/>
            <a:r>
              <a:t>• Department:  Department of Computer Science &amp; Engineering</a:t>
            </a:r>
            <a:br/>
            <a:r>
              <a:t>• Institution:  [College / University Name] (Editable Placeholder)</a:t>
            </a:r>
            <a:br/>
            <a:r>
              <a:t>• Academic Session:  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EA5A0"/>
                </a:solidFill>
                <a:latin typeface="Arial"/>
              </a:defRPr>
            </a:pPr>
            <a:r>
              <a:t>CONTEXT &amp; HEALTHCARE DRIVERS</a:t>
            </a:r>
          </a:p>
          <a:p>
            <a:pPr>
              <a:defRPr sz="2200" b="1">
                <a:solidFill>
                  <a:srgbClr val="0F2341"/>
                </a:solidFill>
                <a:latin typeface="Arial"/>
              </a:defRPr>
            </a:pPr>
            <a:r>
              <a:t>Clinical Problem Statement &amp; Motivation</a:t>
            </a:r>
          </a:p>
        </p:txBody>
      </p:sp>
      <p:sp>
        <p:nvSpPr>
          <p:cNvPr id="4" name="Rectangle 3"/>
          <p:cNvSpPr/>
          <p:nvPr/>
        </p:nvSpPr>
        <p:spPr>
          <a:xfrm>
            <a:off x="731520" y="6400800"/>
            <a:ext cx="10728655"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64748B"/>
                </a:solidFill>
                <a:latin typeface="Arial"/>
              </a:defRPr>
            </a:pPr>
            <a:r>
              <a:t>Chest X-Ray Multi-Disease Detection &amp; Grad-CAM Explainability | B.Tech Major Project</a:t>
            </a:r>
          </a:p>
        </p:txBody>
      </p:sp>
      <p:sp>
        <p:nvSpPr>
          <p:cNvPr id="5" name="Rounded Rectangle 4"/>
          <p:cNvSpPr/>
          <p:nvPr/>
        </p:nvSpPr>
        <p:spPr>
          <a:xfrm>
            <a:off x="731520" y="146304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b="1" sz="1600">
                <a:solidFill>
                  <a:srgbClr val="0F2341"/>
                </a:solidFill>
              </a:defRPr>
            </a:pPr>
            <a:r>
              <a:t>High Disease Burden</a:t>
            </a:r>
          </a:p>
          <a:p>
            <a:pPr>
              <a:spcBef>
                <a:spcPts val="1200"/>
              </a:spcBef>
              <a:defRPr sz="1200">
                <a:solidFill>
                  <a:srgbClr val="1E293B"/>
                </a:solidFill>
              </a:defRPr>
            </a:pPr>
            <a:r>
              <a:t>• Thoracic conditions (COVID-19, Pneumonia, Tuberculosis, diffuse lung opacities) are leading global causes of mortality.</a:t>
            </a:r>
            <a:br/>
            <a:br/>
            <a:r>
              <a:t>• Chest X-ray (CXR) is the universal frontline diagnostic modality due to low cost, rapid acquisition, and high availability.</a:t>
            </a:r>
            <a:br/>
            <a:br/>
            <a:r>
              <a:t>• Early triage is essential to prevent critical pulmonary complications.</a:t>
            </a:r>
          </a:p>
        </p:txBody>
      </p:sp>
      <p:sp>
        <p:nvSpPr>
          <p:cNvPr id="6" name="Rounded Rectangle 5"/>
          <p:cNvSpPr/>
          <p:nvPr/>
        </p:nvSpPr>
        <p:spPr>
          <a:xfrm>
            <a:off x="4389120" y="146304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b="1" sz="1600">
                <a:solidFill>
                  <a:srgbClr val="0F2341"/>
                </a:solidFill>
              </a:defRPr>
            </a:pPr>
            <a:r>
              <a:t>Diagnostic Bottlenecks</a:t>
            </a:r>
          </a:p>
          <a:p>
            <a:pPr>
              <a:spcBef>
                <a:spcPts val="1200"/>
              </a:spcBef>
              <a:defRPr sz="1200">
                <a:solidFill>
                  <a:srgbClr val="1E293B"/>
                </a:solidFill>
              </a:defRPr>
            </a:pPr>
            <a:r>
              <a:t>• Severe global shortage of certified thoracic radiologists, causing diagnostic delays in rural/emergent settings.</a:t>
            </a:r>
            <a:br/>
            <a:br/>
            <a:r>
              <a:t>• Fatigue and high workload induce inter-observer variability and missed subtle consolidations.</a:t>
            </a:r>
            <a:br/>
            <a:br/>
            <a:r>
              <a:t>• Substantial visual overlap exists between viral/bacterial pneumonia and early COVID-19 manifestations.</a:t>
            </a:r>
          </a:p>
        </p:txBody>
      </p:sp>
      <p:sp>
        <p:nvSpPr>
          <p:cNvPr id="7" name="Rounded Rectangle 6"/>
          <p:cNvSpPr/>
          <p:nvPr/>
        </p:nvSpPr>
        <p:spPr>
          <a:xfrm>
            <a:off x="8046720" y="146304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b="1" sz="1600">
                <a:solidFill>
                  <a:srgbClr val="0F2341"/>
                </a:solidFill>
              </a:defRPr>
            </a:pPr>
            <a:r>
              <a:t>The 'Black-Box' Barrier</a:t>
            </a:r>
          </a:p>
          <a:p>
            <a:pPr>
              <a:spcBef>
                <a:spcPts val="1200"/>
              </a:spcBef>
              <a:defRPr sz="1200">
                <a:solidFill>
                  <a:srgbClr val="1E293B"/>
                </a:solidFill>
              </a:defRPr>
            </a:pPr>
            <a:r>
              <a:t>• Standard Deep Neural Networks output probability vectors without anatomical justification.</a:t>
            </a:r>
            <a:br/>
            <a:br/>
            <a:r>
              <a:t>• Clinicians cannot ethically or legally trust opaque AI predictions without verifiable spatial evidence.</a:t>
            </a:r>
            <a:br/>
            <a:br/>
            <a:r>
              <a:t>• Solution: Pair state-of-the-art ensemble accuracy with spatial Grad-CAM saliency maps.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EA5A0"/>
                </a:solidFill>
                <a:latin typeface="Arial"/>
              </a:defRPr>
            </a:pPr>
            <a:r>
              <a:t>TARGET DELIVERABLES &amp; SCIENTIFIC RIGOR</a:t>
            </a:r>
          </a:p>
          <a:p>
            <a:pPr>
              <a:defRPr sz="2200" b="1">
                <a:solidFill>
                  <a:srgbClr val="0F2341"/>
                </a:solidFill>
                <a:latin typeface="Arial"/>
              </a:defRPr>
            </a:pPr>
            <a:r>
              <a:t>Project Objectives &amp; Scope Boundaries</a:t>
            </a:r>
          </a:p>
        </p:txBody>
      </p:sp>
      <p:sp>
        <p:nvSpPr>
          <p:cNvPr id="4" name="Rectangle 3"/>
          <p:cNvSpPr/>
          <p:nvPr/>
        </p:nvSpPr>
        <p:spPr>
          <a:xfrm>
            <a:off x="731520" y="6400800"/>
            <a:ext cx="10728655"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64748B"/>
                </a:solidFill>
                <a:latin typeface="Arial"/>
              </a:defRPr>
            </a:pPr>
            <a:r>
              <a:t>Chest X-Ray Multi-Disease Detection &amp; Grad-CAM Explainability | B.Tech Major Project</a:t>
            </a:r>
          </a:p>
        </p:txBody>
      </p:sp>
      <p:sp>
        <p:nvSpPr>
          <p:cNvPr id="5" name="Rounded Rectangle 4"/>
          <p:cNvSpPr/>
          <p:nvPr/>
        </p:nvSpPr>
        <p:spPr>
          <a:xfrm>
            <a:off x="7315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b="1" sz="1600">
                <a:solidFill>
                  <a:srgbClr val="0F2341"/>
                </a:solidFill>
              </a:defRPr>
            </a:pPr>
            <a:r>
              <a:t>Key Project Objectives</a:t>
            </a:r>
          </a:p>
          <a:p>
            <a:pPr>
              <a:spcBef>
                <a:spcPts val="1000"/>
              </a:spcBef>
              <a:defRPr sz="1200">
                <a:solidFill>
                  <a:srgbClr val="1E293B"/>
                </a:solidFill>
              </a:defRPr>
            </a:pPr>
            <a:r>
              <a:t>1. Multi-Class Detection:</a:t>
            </a:r>
            <a:br/>
            <a:r>
              <a:t>   Accurately categorize CXRs into 5 classes: Normal, COVID-19, Lung Opacity, Pneumonia, Tuberculosis.</a:t>
            </a:r>
            <a:br/>
            <a:br/>
            <a:r>
              <a:t>2. Dual ResNet50 Ensembling:</a:t>
            </a:r>
            <a:br/>
            <a:r>
              <a:t>   Combine independently trained models to minimize variance and improve boundary stability.</a:t>
            </a:r>
            <a:br/>
            <a:br/>
            <a:r>
              <a:t>3. Interpretable Saliency Mapping:</a:t>
            </a:r>
            <a:br/>
            <a:r>
              <a:t>   Generate pixel-aligned Grad-CAM heatmaps highlighting relevant anatomical regions.</a:t>
            </a:r>
            <a:br/>
            <a:br/>
            <a:r>
              <a:t>4. Real-Time Clinical Web Platform:</a:t>
            </a:r>
            <a:br/>
            <a:r>
              <a:t>   Deliver a sub-2-second responsive interface for triage, review, and diagnostic reporting.</a:t>
            </a:r>
          </a:p>
        </p:txBody>
      </p:sp>
      <p:sp>
        <p:nvSpPr>
          <p:cNvPr id="6" name="Rounded Rectangle 5"/>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b="1" sz="1600">
                <a:solidFill>
                  <a:srgbClr val="0F2341"/>
                </a:solidFill>
              </a:defRPr>
            </a:pPr>
            <a:r>
              <a:t>Scope &amp; Ethical Boundaries</a:t>
            </a:r>
          </a:p>
          <a:p>
            <a:pPr>
              <a:spcBef>
                <a:spcPts val="1000"/>
              </a:spcBef>
              <a:defRPr sz="1200">
                <a:solidFill>
                  <a:srgbClr val="1E293B"/>
                </a:solidFill>
              </a:defRPr>
            </a:pPr>
            <a:r>
              <a:t>• Academic Engineering Prototype:</a:t>
            </a:r>
            <a:br/>
            <a:r>
              <a:t>   Designed as an educational and proof-of-concept research system, NOT a certified medical device.</a:t>
            </a:r>
            <a:br/>
            <a:br/>
            <a:r>
              <a:t>• Assistive Decision-Support Tool:</a:t>
            </a:r>
            <a:br/>
            <a:r>
              <a:t>   Supplements clinician judgment; does not replace board-certified radiologist evaluation.</a:t>
            </a:r>
            <a:br/>
            <a:br/>
            <a:r>
              <a:t>• Standard Frontal CXR Modality:</a:t>
            </a:r>
            <a:br/>
            <a:r>
              <a:t>   Focuses exclusively on standard adult frontal (AP/PA) views; lateral and CT modalities excluded.</a:t>
            </a:r>
            <a:br/>
            <a:br/>
            <a:r>
              <a:t>• Ethical Disclosures:</a:t>
            </a:r>
            <a:br/>
            <a:r>
              <a:t>   Complete audit of cross-split duplicate limits and patient identification constraints.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EA5A0"/>
                </a:solidFill>
                <a:latin typeface="Arial"/>
              </a:defRPr>
            </a:pPr>
            <a:r>
              <a:t>ARCHITECTURAL BLUEPRINT</a:t>
            </a:r>
          </a:p>
          <a:p>
            <a:pPr>
              <a:defRPr sz="2200" b="1">
                <a:solidFill>
                  <a:srgbClr val="0F2341"/>
                </a:solidFill>
                <a:latin typeface="Arial"/>
              </a:defRPr>
            </a:pPr>
            <a:r>
              <a:t>Proposed System Architecture &amp; End-to-End Pipeline</a:t>
            </a:r>
          </a:p>
        </p:txBody>
      </p:sp>
      <p:sp>
        <p:nvSpPr>
          <p:cNvPr id="4" name="Rectangle 3"/>
          <p:cNvSpPr/>
          <p:nvPr/>
        </p:nvSpPr>
        <p:spPr>
          <a:xfrm>
            <a:off x="731520" y="6400800"/>
            <a:ext cx="10728655"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64748B"/>
                </a:solidFill>
                <a:latin typeface="Arial"/>
              </a:defRPr>
            </a:pPr>
            <a:r>
              <a:t>Chest X-Ray Multi-Disease Detection &amp; Grad-CAM Explainability | B.Tech Major Project</a:t>
            </a:r>
          </a:p>
        </p:txBody>
      </p:sp>
      <p:sp>
        <p:nvSpPr>
          <p:cNvPr id="5" name="Rounded Rectangle 4"/>
          <p:cNvSpPr/>
          <p:nvPr/>
        </p:nvSpPr>
        <p:spPr>
          <a:xfrm>
            <a:off x="731520" y="1645920"/>
            <a:ext cx="26060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b="1" sz="1400">
                <a:solidFill>
                  <a:srgbClr val="1E4B82"/>
                </a:solidFill>
              </a:defRPr>
            </a:pPr>
            <a:r>
              <a:t>1. Input &amp; Validation</a:t>
            </a:r>
          </a:p>
          <a:p>
            <a:pPr>
              <a:spcBef>
                <a:spcPts val="1200"/>
              </a:spcBef>
              <a:defRPr sz="1100">
                <a:solidFill>
                  <a:srgbClr val="1E293B"/>
                </a:solidFill>
              </a:defRPr>
            </a:pPr>
            <a:r>
              <a:t>• Frontal CXR upload (PNG/JPG)</a:t>
            </a:r>
            <a:br/>
            <a:r>
              <a:t>• MIME type &amp; integrity checks</a:t>
            </a:r>
            <a:br/>
            <a:r>
              <a:t>• OOD Saturation Gating</a:t>
            </a:r>
            <a:br/>
            <a:r>
              <a:t>• 224x224 RGB conversion</a:t>
            </a:r>
          </a:p>
        </p:txBody>
      </p:sp>
      <p:sp>
        <p:nvSpPr>
          <p:cNvPr id="6" name="Rounded Rectangle 5"/>
          <p:cNvSpPr/>
          <p:nvPr/>
        </p:nvSpPr>
        <p:spPr>
          <a:xfrm>
            <a:off x="3429000" y="1645920"/>
            <a:ext cx="26060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b="1" sz="1400">
                <a:solidFill>
                  <a:srgbClr val="1E4B82"/>
                </a:solidFill>
              </a:defRPr>
            </a:pPr>
            <a:r>
              <a:t>2. Dual Model Ensemble</a:t>
            </a:r>
          </a:p>
          <a:p>
            <a:pPr>
              <a:spcBef>
                <a:spcPts val="1200"/>
              </a:spcBef>
              <a:defRPr sz="1100">
                <a:solidFill>
                  <a:srgbClr val="1E293B"/>
                </a:solidFill>
              </a:defRPr>
            </a:pPr>
            <a:r>
              <a:t>• ResNet50 V1 + V3</a:t>
            </a:r>
            <a:br/>
            <a:r>
              <a:t>• Test-Time Augmentation (TTA)</a:t>
            </a:r>
            <a:br/>
            <a:r>
              <a:t>• Calibrated Clinical Cutoffs</a:t>
            </a:r>
            <a:br/>
            <a:r>
              <a:t>• P = 0.5 * (P_v1 + P_v3)</a:t>
            </a:r>
          </a:p>
        </p:txBody>
      </p:sp>
      <p:sp>
        <p:nvSpPr>
          <p:cNvPr id="7" name="Rounded Rectangle 6"/>
          <p:cNvSpPr/>
          <p:nvPr/>
        </p:nvSpPr>
        <p:spPr>
          <a:xfrm>
            <a:off x="6126480" y="1645920"/>
            <a:ext cx="26060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b="1" sz="1400">
                <a:solidFill>
                  <a:srgbClr val="1E4B82"/>
                </a:solidFill>
              </a:defRPr>
            </a:pPr>
            <a:r>
              <a:t>3. Explainability Engine</a:t>
            </a:r>
          </a:p>
          <a:p>
            <a:pPr>
              <a:spcBef>
                <a:spcPts val="1200"/>
              </a:spcBef>
              <a:defRPr sz="1100">
                <a:solidFill>
                  <a:srgbClr val="1E293B"/>
                </a:solidFill>
              </a:defRPr>
            </a:pPr>
            <a:r>
              <a:t>• Gradient Class Activation (Grad-CAM)</a:t>
            </a:r>
            <a:br/>
            <a:r>
              <a:t>• conv5_block3_3_conv gradients</a:t>
            </a:r>
            <a:br/>
            <a:r>
              <a:t>• Global Average Pooling + ReLU</a:t>
            </a:r>
            <a:br/>
            <a:r>
              <a:t>• Jet colormap overlay generation</a:t>
            </a:r>
          </a:p>
        </p:txBody>
      </p:sp>
      <p:sp>
        <p:nvSpPr>
          <p:cNvPr id="8" name="Rounded Rectangle 7"/>
          <p:cNvSpPr/>
          <p:nvPr/>
        </p:nvSpPr>
        <p:spPr>
          <a:xfrm>
            <a:off x="8823960" y="1645920"/>
            <a:ext cx="2606040" cy="4389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defRPr b="1" sz="1400">
                <a:solidFill>
                  <a:srgbClr val="1E4B82"/>
                </a:solidFill>
              </a:defRPr>
            </a:pPr>
            <a:r>
              <a:t>4. Clinical Frontend</a:t>
            </a:r>
          </a:p>
          <a:p>
            <a:pPr>
              <a:spcBef>
                <a:spcPts val="1200"/>
              </a:spcBef>
              <a:defRPr sz="1100">
                <a:solidFill>
                  <a:srgbClr val="1E293B"/>
                </a:solidFill>
              </a:defRPr>
            </a:pPr>
            <a:r>
              <a:t>• React 18 + Vite Web Dashboard</a:t>
            </a:r>
            <a:br/>
            <a:r>
              <a:t>• Probability breakdown &amp; alerts</a:t>
            </a:r>
            <a:br/>
            <a:r>
              <a:t>• Interactive heatmap overlay slider</a:t>
            </a:r>
            <a:br/>
            <a:r>
              <a:t>• History tracking &amp; export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EA5A0"/>
                </a:solidFill>
                <a:latin typeface="Arial"/>
              </a:defRPr>
            </a:pPr>
            <a:r>
              <a:t>18,200 HIGH-RESOLUTION RADIOGRAPHS</a:t>
            </a:r>
          </a:p>
          <a:p>
            <a:pPr>
              <a:defRPr sz="2200" b="1">
                <a:solidFill>
                  <a:srgbClr val="0F2341"/>
                </a:solidFill>
                <a:latin typeface="Arial"/>
              </a:defRPr>
            </a:pPr>
            <a:r>
              <a:t>Dataset Characterization &amp; Disease Classes</a:t>
            </a:r>
          </a:p>
        </p:txBody>
      </p:sp>
      <p:sp>
        <p:nvSpPr>
          <p:cNvPr id="4" name="Rectangle 3"/>
          <p:cNvSpPr/>
          <p:nvPr/>
        </p:nvSpPr>
        <p:spPr>
          <a:xfrm>
            <a:off x="731520" y="6400800"/>
            <a:ext cx="10728655"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64748B"/>
                </a:solidFill>
                <a:latin typeface="Arial"/>
              </a:defRPr>
            </a:pPr>
            <a:r>
              <a:t>Chest X-Ray Multi-Disease Detection &amp; Grad-CAM Explainability | B.Tech Major Project</a:t>
            </a:r>
          </a:p>
        </p:txBody>
      </p:sp>
      <p:sp>
        <p:nvSpPr>
          <p:cNvPr id="5" name="Rounded Rectangle 4"/>
          <p:cNvSpPr/>
          <p:nvPr/>
        </p:nvSpPr>
        <p:spPr>
          <a:xfrm>
            <a:off x="731520" y="1463040"/>
            <a:ext cx="54864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b="1" sz="1500">
                <a:solidFill>
                  <a:srgbClr val="0F2341"/>
                </a:solidFill>
              </a:defRPr>
            </a:pPr>
            <a:r>
              <a:t>Dataset Composition (N = 18,200 Images)</a:t>
            </a:r>
          </a:p>
          <a:p>
            <a:pPr>
              <a:spcBef>
                <a:spcPts val="800"/>
              </a:spcBef>
              <a:defRPr sz="1100">
                <a:solidFill>
                  <a:srgbClr val="1E293B"/>
                </a:solidFill>
              </a:defRPr>
            </a:pPr>
            <a:r>
              <a:t>The study utilizes a curated collection of 18,200 frontal chest radiographs synthesized from verified open medical repositories (COVID-19 Radiography Database &amp; TB Chest X-ray Database):</a:t>
            </a:r>
            <a:br/>
            <a:br/>
            <a:r>
              <a:t>• Normal:  10,192 images (56.00%)</a:t>
            </a:r>
            <a:br/>
            <a:r>
              <a:t>  Clear lung fields, sharp costophrenic angles, intact cardiac silhouette.</a:t>
            </a:r>
            <a:br/>
            <a:br/>
            <a:r>
              <a:t>• COVID-19:  3,616 images (19.87%)</a:t>
            </a:r>
            <a:br/>
            <a:r>
              <a:t>  Bilateral peripheral ground-glass opacities, consolidations.</a:t>
            </a:r>
            <a:br/>
            <a:br/>
            <a:r>
              <a:t>• Lung Opacity:  2,347 images (12.90%)</a:t>
            </a:r>
            <a:br/>
            <a:r>
              <a:t>  Non-specific pulmonary consolidations, fluid, or atelectasis.</a:t>
            </a:r>
            <a:br/>
            <a:br/>
            <a:r>
              <a:t>• Pneumonia:  1,345 images (7.39%)</a:t>
            </a:r>
            <a:br/>
            <a:r>
              <a:t>  Lobar consolidations, bacterial/viral bronchopneumonia.</a:t>
            </a:r>
            <a:br/>
            <a:br/>
            <a:r>
              <a:t>• Tuberculosis:  700 images (3.85%)</a:t>
            </a:r>
            <a:br/>
            <a:r>
              <a:t>  Apical infiltrates, cavitary lesions, fibrocalcific scars.</a:t>
            </a:r>
          </a:p>
        </p:txBody>
      </p:sp>
      <p:sp>
        <p:nvSpPr>
          <p:cNvPr id="6" name="Rounded Rectangle 5"/>
          <p:cNvSpPr/>
          <p:nvPr/>
        </p:nvSpPr>
        <p:spPr>
          <a:xfrm>
            <a:off x="6492240" y="1463040"/>
            <a:ext cx="49377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b="1" sz="1500">
                <a:solidFill>
                  <a:srgbClr val="0F2341"/>
                </a:solidFill>
              </a:defRPr>
            </a:pPr>
            <a:r>
              <a:t>Real-World Distribution Realism</a:t>
            </a:r>
          </a:p>
          <a:p>
            <a:pPr>
              <a:spcBef>
                <a:spcPts val="1000"/>
              </a:spcBef>
              <a:defRPr sz="1150">
                <a:solidFill>
                  <a:srgbClr val="1E293B"/>
                </a:solidFill>
              </a:defRPr>
            </a:pPr>
            <a:r>
              <a:t>• Clinical Imbalance Representation:</a:t>
            </a:r>
            <a:br/>
            <a:r>
              <a:t>  Real-world hospitals evaluate mostly healthy patients, with fewer TB cases. Preserving this class hierarchy teaches the model realistic prior prevalence rather than artificial 20% uniform distributions.</a:t>
            </a:r>
            <a:br/>
            <a:br/>
            <a:r>
              <a:t>• Rigorous Image Normalization:</a:t>
            </a:r>
            <a:br/>
            <a:r>
              <a:t>  All heterogeneous source resolutions are standardized to 224x224 RGB.</a:t>
            </a:r>
            <a:br/>
            <a:br/>
            <a:r>
              <a:t>• Class Separation:</a:t>
            </a:r>
            <a:br/>
            <a:r>
              <a:t>  Distinguishes specific bacterial/viral pneumonia from non-specific opacities and COVID-19 manifestations.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EA5A0"/>
                </a:solidFill>
                <a:latin typeface="Arial"/>
              </a:defRPr>
            </a:pPr>
            <a:r>
              <a:t>STRICT MANIFEST PARTITIONING</a:t>
            </a:r>
          </a:p>
          <a:p>
            <a:pPr>
              <a:defRPr sz="2200" b="1">
                <a:solidFill>
                  <a:srgbClr val="0F2341"/>
                </a:solidFill>
                <a:latin typeface="Arial"/>
              </a:defRPr>
            </a:pPr>
            <a:r>
              <a:t>Data Preprocessing &amp; Split Integrity</a:t>
            </a:r>
          </a:p>
        </p:txBody>
      </p:sp>
      <p:sp>
        <p:nvSpPr>
          <p:cNvPr id="4" name="Rectangle 3"/>
          <p:cNvSpPr/>
          <p:nvPr/>
        </p:nvSpPr>
        <p:spPr>
          <a:xfrm>
            <a:off x="731520" y="6400800"/>
            <a:ext cx="10728655"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64748B"/>
                </a:solidFill>
                <a:latin typeface="Arial"/>
              </a:defRPr>
            </a:pPr>
            <a:r>
              <a:t>Chest X-Ray Multi-Disease Detection &amp; Grad-CAM Explainability | B.Tech Major Project</a:t>
            </a:r>
          </a:p>
        </p:txBody>
      </p:sp>
      <p:sp>
        <p:nvSpPr>
          <p:cNvPr id="5" name="Rounded Rectangle 4"/>
          <p:cNvSpPr/>
          <p:nvPr/>
        </p:nvSpPr>
        <p:spPr>
          <a:xfrm>
            <a:off x="731520" y="1463040"/>
            <a:ext cx="54864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b="1" sz="1500">
                <a:solidFill>
                  <a:srgbClr val="0F2341"/>
                </a:solidFill>
              </a:defRPr>
            </a:pPr>
            <a:r>
              <a:t>Authoritative 70 / 15 / 15 Partitioning</a:t>
            </a:r>
          </a:p>
          <a:p>
            <a:pPr>
              <a:spcBef>
                <a:spcPts val="1000"/>
              </a:spcBef>
              <a:defRPr sz="1150">
                <a:solidFill>
                  <a:srgbClr val="1E293B"/>
                </a:solidFill>
              </a:defRPr>
            </a:pPr>
            <a:r>
              <a:t>The 18,200 active images are locked into persistent manifest JSON files to ensure exact scientific reproducibility:</a:t>
            </a:r>
            <a:br/>
            <a:br/>
            <a:r>
              <a:t>• Training Manifest (70%):  12,740 images</a:t>
            </a:r>
            <a:br/>
            <a:r>
              <a:t>  Used for feature representation and weight updates.</a:t>
            </a:r>
            <a:br/>
            <a:br/>
            <a:r>
              <a:t>• Validation Manifest (15%):  2,730 images</a:t>
            </a:r>
            <a:br/>
            <a:r>
              <a:t>  Used for hyperparameter tuning, checkpointing, and early stopping.</a:t>
            </a:r>
            <a:br/>
            <a:br/>
            <a:r>
              <a:t>• Held-Out Test Manifest (15%):  2,730 images</a:t>
            </a:r>
            <a:br/>
            <a:r>
              <a:t>  Completely unobserved during model training; dedicated to final statistical benchmark evaluation.</a:t>
            </a:r>
          </a:p>
        </p:txBody>
      </p:sp>
      <p:sp>
        <p:nvSpPr>
          <p:cNvPr id="6" name="Rounded Rectangle 5"/>
          <p:cNvSpPr/>
          <p:nvPr/>
        </p:nvSpPr>
        <p:spPr>
          <a:xfrm>
            <a:off x="6492240" y="1463040"/>
            <a:ext cx="49377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b="1" sz="1500">
                <a:solidFill>
                  <a:srgbClr val="0F2341"/>
                </a:solidFill>
              </a:defRPr>
            </a:pPr>
            <a:r>
              <a:t>Pre-processing &amp; Manifest Integrity</a:t>
            </a:r>
          </a:p>
          <a:p>
            <a:pPr>
              <a:spcBef>
                <a:spcPts val="1000"/>
              </a:spcBef>
              <a:defRPr sz="1150">
                <a:solidFill>
                  <a:srgbClr val="1E293B"/>
                </a:solidFill>
              </a:defRPr>
            </a:pPr>
            <a:r>
              <a:t>• Deterministic Resolution Rescaling:</a:t>
            </a:r>
            <a:br/>
            <a:r>
              <a:t>  Bi-linear interpolation resizes all input matrices to 224x224x3.</a:t>
            </a:r>
            <a:br/>
            <a:br/>
            <a:r>
              <a:t>• Channel Expansion:</a:t>
            </a:r>
            <a:br/>
            <a:r>
              <a:t>  Monochrome radiographs are expanded to 3 identical RGB channels to match ImageNet pre-trained tensor dimensions.</a:t>
            </a:r>
            <a:br/>
            <a:br/>
            <a:r>
              <a:t>• Floating-Point Scaling:</a:t>
            </a:r>
            <a:br/>
            <a:r>
              <a:t>  Pixel intensities normalized to [0.0, 1.0] range.</a:t>
            </a:r>
            <a:br/>
            <a:br/>
            <a:r>
              <a:t>• Manifest Immutability:</a:t>
            </a:r>
            <a:br/>
            <a:r>
              <a:t>  Filepaths and target labels are locked in `dataset_manifests/` preventing data contamination.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EA5A0"/>
                </a:solidFill>
                <a:latin typeface="Arial"/>
              </a:defRPr>
            </a:pPr>
            <a:r>
              <a:t>VARIANCE REDUCTION VIA DEEP RESIDUAL LEARNING</a:t>
            </a:r>
          </a:p>
          <a:p>
            <a:pPr>
              <a:defRPr sz="2200" b="1">
                <a:solidFill>
                  <a:srgbClr val="0F2341"/>
                </a:solidFill>
                <a:latin typeface="Arial"/>
              </a:defRPr>
            </a:pPr>
            <a:r>
              <a:t>Dual-Model ResNet50 Ensemble Architecture</a:t>
            </a:r>
          </a:p>
        </p:txBody>
      </p:sp>
      <p:sp>
        <p:nvSpPr>
          <p:cNvPr id="4" name="Rectangle 3"/>
          <p:cNvSpPr/>
          <p:nvPr/>
        </p:nvSpPr>
        <p:spPr>
          <a:xfrm>
            <a:off x="731520" y="6400800"/>
            <a:ext cx="10728655"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64748B"/>
                </a:solidFill>
                <a:latin typeface="Arial"/>
              </a:defRPr>
            </a:pPr>
            <a:r>
              <a:t>Chest X-Ray Multi-Disease Detection &amp; Grad-CAM Explainability | B.Tech Major Project</a:t>
            </a:r>
          </a:p>
        </p:txBody>
      </p:sp>
      <p:sp>
        <p:nvSpPr>
          <p:cNvPr id="5" name="Rounded Rectangle 4"/>
          <p:cNvSpPr/>
          <p:nvPr/>
        </p:nvSpPr>
        <p:spPr>
          <a:xfrm>
            <a:off x="7315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b="1" sz="1500">
                <a:solidFill>
                  <a:srgbClr val="0F2341"/>
                </a:solidFill>
              </a:defRPr>
            </a:pPr>
            <a:r>
              <a:t>Constituent Base Models</a:t>
            </a:r>
          </a:p>
          <a:p>
            <a:pPr>
              <a:spcBef>
                <a:spcPts val="1000"/>
              </a:spcBef>
              <a:defRPr sz="1150">
                <a:solidFill>
                  <a:srgbClr val="1E293B"/>
                </a:solidFill>
              </a:defRPr>
            </a:pPr>
            <a:r>
              <a:t>• Why ResNet50?</a:t>
            </a:r>
            <a:br/>
            <a:r>
              <a:t>  50-layer deep convolutional network with residual skip connections (F(x) + x) overcoming vanishing gradients and enabling rich thoracic feature hierarchies.</a:t>
            </a:r>
            <a:br/>
            <a:br/>
            <a:r>
              <a:t>• Model V1 (final_super_model_old.keras):</a:t>
            </a:r>
            <a:br/>
            <a:r>
              <a:t>  - Trained baseline ResNet50 architecture.</a:t>
            </a:r>
            <a:br/>
            <a:r>
              <a:t>  - Standalone Test Accuracy: 96.08%.</a:t>
            </a:r>
            <a:br/>
            <a:br/>
            <a:r>
              <a:t>• Model V3 (final_super_model_v3.keras):</a:t>
            </a:r>
            <a:br/>
            <a:r>
              <a:t>  - Fine-tuned with modified bottleneck layers.</a:t>
            </a:r>
            <a:br/>
            <a:r>
              <a:t>  - Standalone Test Accuracy: 97.18%.</a:t>
            </a:r>
          </a:p>
        </p:txBody>
      </p:sp>
      <p:sp>
        <p:nvSpPr>
          <p:cNvPr id="6" name="Rounded Rectangle 5"/>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b="1" sz="1500">
                <a:solidFill>
                  <a:srgbClr val="0F2341"/>
                </a:solidFill>
              </a:defRPr>
            </a:pPr>
            <a:r>
              <a:t>Production Ensemble Fusion</a:t>
            </a:r>
          </a:p>
          <a:p>
            <a:pPr>
              <a:spcBef>
                <a:spcPts val="800"/>
              </a:spcBef>
              <a:defRPr sz="1100">
                <a:solidFill>
                  <a:srgbClr val="1E293B"/>
                </a:solidFill>
              </a:defRPr>
            </a:pPr>
            <a:r>
              <a:t>• Softmax Probability Averaging:</a:t>
            </a:r>
            <a:br/>
            <a:r>
              <a:t>  For each test sample x, predicted probability vector is computed as:</a:t>
            </a:r>
            <a:br/>
            <a:r>
              <a:t>     P_ensemble(c|x) = 0.5 * P_v1(c|x) + 0.5 * P_v3(c|x)</a:t>
            </a:r>
            <a:br/>
            <a:br/>
            <a:r>
              <a:t>• Test-Time Augmentation (TTA):</a:t>
            </a:r>
            <a:br/>
            <a:r>
              <a:t>  Inference averages canonical and horizontal reflections for orientation invariance.</a:t>
            </a:r>
            <a:br/>
            <a:br/>
            <a:r>
              <a:t>• Calibrated Decision Cutoffs:</a:t>
            </a:r>
            <a:br/>
            <a:r>
              <a:t>  Tuned per class (TB: 0.35, Pneumonia: 0.38) preventing false-negative underdiagnosis.</a:t>
            </a:r>
            <a:br/>
            <a:br/>
            <a:r>
              <a:t>• Ensemble Test Benchmark: 97.40% Accuracy</a:t>
            </a:r>
            <a:br/>
            <a:r>
              <a:t>  Outperforms both individual models (96.08% and 97.18%), yielding 2,659 correct predictions out of 2,730.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EA5A0"/>
                </a:solidFill>
                <a:latin typeface="Arial"/>
              </a:defRPr>
            </a:pPr>
            <a:r>
              <a:t>FULL-STACK SYSTEM ENGINEERING</a:t>
            </a:r>
          </a:p>
          <a:p>
            <a:pPr>
              <a:defRPr sz="2200" b="1">
                <a:solidFill>
                  <a:srgbClr val="0F2341"/>
                </a:solidFill>
                <a:latin typeface="Arial"/>
              </a:defRPr>
            </a:pPr>
            <a:r>
              <a:t>Prediction Workflow &amp; Modern Technology Stack</a:t>
            </a:r>
          </a:p>
        </p:txBody>
      </p:sp>
      <p:sp>
        <p:nvSpPr>
          <p:cNvPr id="4" name="Rectangle 3"/>
          <p:cNvSpPr/>
          <p:nvPr/>
        </p:nvSpPr>
        <p:spPr>
          <a:xfrm>
            <a:off x="731520" y="6400800"/>
            <a:ext cx="10728655"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64748B"/>
                </a:solidFill>
                <a:latin typeface="Arial"/>
              </a:defRPr>
            </a:pPr>
            <a:r>
              <a:t>Chest X-Ray Multi-Disease Detection &amp; Grad-CAM Explainability | B.Tech Major Project</a:t>
            </a:r>
          </a:p>
        </p:txBody>
      </p:sp>
      <p:sp>
        <p:nvSpPr>
          <p:cNvPr id="5" name="Rounded Rectangle 4"/>
          <p:cNvSpPr/>
          <p:nvPr/>
        </p:nvSpPr>
        <p:spPr>
          <a:xfrm>
            <a:off x="7315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b="1" sz="1500">
                <a:solidFill>
                  <a:srgbClr val="1E4B82"/>
                </a:solidFill>
              </a:defRPr>
            </a:pPr>
            <a:r>
              <a:t>High-Performance Backend</a:t>
            </a:r>
          </a:p>
          <a:p>
            <a:pPr>
              <a:spcBef>
                <a:spcPts val="1000"/>
              </a:spcBef>
              <a:defRPr sz="1150">
                <a:solidFill>
                  <a:srgbClr val="1E293B"/>
                </a:solidFill>
              </a:defRPr>
            </a:pPr>
            <a:r>
              <a:t>• Framework: FastAPI (Python 3.11) with ASGI Uvicorn.</a:t>
            </a:r>
            <a:br/>
            <a:r>
              <a:t>• Deep Learning Engine: TensorFlow &amp; Keras 2.21.</a:t>
            </a:r>
            <a:br/>
            <a:r>
              <a:t>• Image Processing: OpenCV, Pillow, and NumPy.</a:t>
            </a:r>
            <a:br/>
            <a:r>
              <a:t>• Asynchronous Concurrency:</a:t>
            </a:r>
            <a:br/>
            <a:r>
              <a:t>  Model inferences and Grad-CAM generation dispatched to dedicated threadpools (`asyncio.to_thread`) ensuring the event loop remains responsive.</a:t>
            </a:r>
            <a:br/>
            <a:r>
              <a:t>• Data Storage: MongoDB / Mongomock repository storing prediction logs, confidence distributions, and clinician review flags.</a:t>
            </a:r>
            <a:br/>
            <a:r>
              <a:t>• Defensive Architecture: Strict Pydantic schema validation, JWT auth, and structured error boundaries.</a:t>
            </a:r>
          </a:p>
        </p:txBody>
      </p:sp>
      <p:sp>
        <p:nvSpPr>
          <p:cNvPr id="6" name="Rounded Rectangle 5"/>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b="1" sz="1500">
                <a:solidFill>
                  <a:srgbClr val="1E4B82"/>
                </a:solidFill>
              </a:defRPr>
            </a:pPr>
            <a:r>
              <a:t>Responsive Frontend Dashboard</a:t>
            </a:r>
          </a:p>
          <a:p>
            <a:pPr>
              <a:spcBef>
                <a:spcPts val="1000"/>
              </a:spcBef>
              <a:defRPr sz="1150">
                <a:solidFill>
                  <a:srgbClr val="1E293B"/>
                </a:solidFill>
              </a:defRPr>
            </a:pPr>
            <a:r>
              <a:t>• Framework: React 18 with Vite high-speed bundler.</a:t>
            </a:r>
            <a:br/>
            <a:r>
              <a:t>• Visual Styling: Pure Vanilla CSS Design System with dark mode glassmorphism.</a:t>
            </a:r>
            <a:br/>
            <a:r>
              <a:t>• Real-Time Interactive Canvas:</a:t>
            </a:r>
            <a:br/>
            <a:r>
              <a:t>  Provides an opacity slider blending the original radiograph with the Grad-CAM heatmap dynamically.</a:t>
            </a:r>
            <a:br/>
            <a:r>
              <a:t>• Clinical Review Workflow:</a:t>
            </a:r>
            <a:br/>
            <a:r>
              <a:t>  Allows physicians to mark diagnoses as Confirmed, Flagged, or In-Review.</a:t>
            </a:r>
            <a:br/>
            <a:r>
              <a:t>• Diagnostic Summary Export:</a:t>
            </a:r>
            <a:br/>
            <a:r>
              <a:t>  One-click generation of comprehensive clinical triage reports.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EA5A0"/>
                </a:solidFill>
                <a:latin typeface="Arial"/>
              </a:defRPr>
            </a:pPr>
            <a:r>
              <a:t>LOCALIZING PATHOLOGICAL FEATURES VIA GRADIENT TRACKING</a:t>
            </a:r>
          </a:p>
          <a:p>
            <a:pPr>
              <a:defRPr sz="2200" b="1">
                <a:solidFill>
                  <a:srgbClr val="0F2341"/>
                </a:solidFill>
                <a:latin typeface="Arial"/>
              </a:defRPr>
            </a:pPr>
            <a:r>
              <a:t>Grad-CAM Explainability &amp; Visual Saliency</a:t>
            </a:r>
          </a:p>
        </p:txBody>
      </p:sp>
      <p:sp>
        <p:nvSpPr>
          <p:cNvPr id="4" name="Rectangle 3"/>
          <p:cNvSpPr/>
          <p:nvPr/>
        </p:nvSpPr>
        <p:spPr>
          <a:xfrm>
            <a:off x="731520" y="6400800"/>
            <a:ext cx="10728655"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64748B"/>
                </a:solidFill>
                <a:latin typeface="Arial"/>
              </a:defRPr>
            </a:pPr>
            <a:r>
              <a:t>Chest X-Ray Multi-Disease Detection &amp; Grad-CAM Explainability | B.Tech Major Project</a:t>
            </a:r>
          </a:p>
        </p:txBody>
      </p:sp>
      <p:sp>
        <p:nvSpPr>
          <p:cNvPr id="5" name="Rounded Rectangle 4"/>
          <p:cNvSpPr/>
          <p:nvPr/>
        </p:nvSpPr>
        <p:spPr>
          <a:xfrm>
            <a:off x="731520" y="1463040"/>
            <a:ext cx="54864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b="1" sz="1400">
                <a:solidFill>
                  <a:srgbClr val="0F2341"/>
                </a:solidFill>
              </a:defRPr>
            </a:pPr>
            <a:r>
              <a:t>Mathematical Formulation &amp; Pipeline</a:t>
            </a:r>
          </a:p>
          <a:p>
            <a:pPr>
              <a:spcBef>
                <a:spcPts val="600"/>
              </a:spcBef>
              <a:defRPr sz="1100">
                <a:solidFill>
                  <a:srgbClr val="1E293B"/>
                </a:solidFill>
              </a:defRPr>
            </a:pPr>
            <a:r>
              <a:t>1. Target Activation Layer:</a:t>
            </a:r>
            <a:br/>
            <a:r>
              <a:t>   Layer `conv5_block3_3_conv` — the final convolutional feature block in ResNet50 (spatial resolution 7x7x2048).</a:t>
            </a:r>
            <a:br/>
            <a:br/>
            <a:r>
              <a:t>2. Gradient Computation:</a:t>
            </a:r>
            <a:br/>
            <a:r>
              <a:t>   Calculates gradient of predicted score y^c w.r.t feature map activations A^k:  d(y^c) / d(A^k)</a:t>
            </a:r>
            <a:br/>
            <a:br/>
            <a:r>
              <a:t>3. Importance Weights (alpha_k^c):</a:t>
            </a:r>
            <a:br/>
            <a:r>
              <a:t>   Global Average Pooling computes importance of each filter.</a:t>
            </a:r>
            <a:br/>
            <a:br/>
            <a:r>
              <a:t>4. Rectified Combination (ReLU):</a:t>
            </a:r>
            <a:br/>
            <a:r>
              <a:t>   L_Grad-CAM = ReLU( sum_k alpha_k^c * A^k )</a:t>
            </a:r>
            <a:br/>
            <a:r>
              <a:t>   Isolates features that positively contribute to class c.</a:t>
            </a:r>
            <a:br/>
            <a:br/>
            <a:r>
              <a:t>• Critical Limitation Disclosed:</a:t>
            </a:r>
            <a:br/>
            <a:r>
              <a:t>  Grad-CAM visualizes Model V3 specifically, not the full ensemble.</a:t>
            </a:r>
          </a:p>
        </p:txBody>
      </p:sp>
      <p:pic>
        <p:nvPicPr>
          <p:cNvPr id="6" name="Picture 5" descr="05_gradcam_explainability.png"/>
          <p:cNvPicPr>
            <a:picLocks noChangeAspect="1"/>
          </p:cNvPicPr>
          <p:nvPr/>
        </p:nvPicPr>
        <p:blipFill>
          <a:blip r:embed="rId2"/>
          <a:stretch>
            <a:fillRect/>
          </a:stretch>
        </p:blipFill>
        <p:spPr>
          <a:xfrm>
            <a:off x="6492240" y="1463040"/>
            <a:ext cx="4937760" cy="3086100"/>
          </a:xfrm>
          <a:prstGeom prst="rect">
            <a:avLst/>
          </a:prstGeom>
        </p:spPr>
      </p:pic>
      <p:sp>
        <p:nvSpPr>
          <p:cNvPr id="7" name="TextBox 6"/>
          <p:cNvSpPr txBox="1"/>
          <p:nvPr/>
        </p:nvSpPr>
        <p:spPr>
          <a:xfrm>
            <a:off x="6492240" y="5303520"/>
            <a:ext cx="4937760" cy="731520"/>
          </a:xfrm>
          <a:prstGeom prst="rect">
            <a:avLst/>
          </a:prstGeom>
          <a:noFill/>
        </p:spPr>
        <p:txBody>
          <a:bodyPr wrap="square">
            <a:spAutoFit/>
          </a:bodyPr>
          <a:lstStyle/>
          <a:p>
            <a:pPr>
              <a:defRPr sz="1000">
                <a:solidFill>
                  <a:srgbClr val="64748B"/>
                </a:solidFill>
              </a:defRPr>
            </a:pPr>
            <a:r>
              <a:t>Verified Application Screenshot: Bilateral infiltration localization with interactive opacity control and probability breakdown.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EA5A0"/>
                </a:solidFill>
                <a:latin typeface="Arial"/>
              </a:defRPr>
            </a:pPr>
            <a:r>
              <a:t>STATISTICAL VALIDATION ON N=2,730 TEST RADIOGRAPHS</a:t>
            </a:r>
          </a:p>
          <a:p>
            <a:pPr>
              <a:defRPr sz="2200" b="1">
                <a:solidFill>
                  <a:srgbClr val="0F2341"/>
                </a:solidFill>
                <a:latin typeface="Arial"/>
              </a:defRPr>
            </a:pPr>
            <a:r>
              <a:t>Evaluation Methodology &amp; Comprehensive Metrics</a:t>
            </a:r>
          </a:p>
        </p:txBody>
      </p:sp>
      <p:sp>
        <p:nvSpPr>
          <p:cNvPr id="4" name="Rectangle 3"/>
          <p:cNvSpPr/>
          <p:nvPr/>
        </p:nvSpPr>
        <p:spPr>
          <a:xfrm>
            <a:off x="731520" y="6400800"/>
            <a:ext cx="10728655"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64748B"/>
                </a:solidFill>
                <a:latin typeface="Arial"/>
              </a:defRPr>
            </a:pPr>
            <a:r>
              <a:t>Chest X-Ray Multi-Disease Detection &amp; Grad-CAM Explainability | B.Tech Major Project</a:t>
            </a:r>
          </a:p>
        </p:txBody>
      </p:sp>
      <p:sp>
        <p:nvSpPr>
          <p:cNvPr id="5" name="Rounded Rectangle 4"/>
          <p:cNvSpPr/>
          <p:nvPr/>
        </p:nvSpPr>
        <p:spPr>
          <a:xfrm>
            <a:off x="731520" y="1463040"/>
            <a:ext cx="260604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b="1" sz="2400">
                <a:solidFill>
                  <a:srgbClr val="0EA5A0"/>
                </a:solidFill>
                <a:latin typeface="Arial"/>
              </a:defRPr>
            </a:pPr>
            <a:r>
              <a:t>97.40%</a:t>
            </a:r>
          </a:p>
          <a:p>
            <a:pPr>
              <a:defRPr b="1" sz="1100">
                <a:solidFill>
                  <a:srgbClr val="0F2341"/>
                </a:solidFill>
              </a:defRPr>
            </a:pPr>
            <a:r>
              <a:t>Ensemble Accuracy</a:t>
            </a:r>
          </a:p>
          <a:p>
            <a:pPr>
              <a:defRPr sz="950">
                <a:solidFill>
                  <a:srgbClr val="64748B"/>
                </a:solidFill>
              </a:defRPr>
            </a:pPr>
            <a:r>
              <a:t>2,659 / 2,730 Correct</a:t>
            </a:r>
          </a:p>
        </p:txBody>
      </p:sp>
      <p:sp>
        <p:nvSpPr>
          <p:cNvPr id="6" name="Rounded Rectangle 5"/>
          <p:cNvSpPr/>
          <p:nvPr/>
        </p:nvSpPr>
        <p:spPr>
          <a:xfrm>
            <a:off x="3429000" y="1463040"/>
            <a:ext cx="260604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b="1" sz="2400">
                <a:solidFill>
                  <a:srgbClr val="0EA5A0"/>
                </a:solidFill>
                <a:latin typeface="Arial"/>
              </a:defRPr>
            </a:pPr>
            <a:r>
              <a:t>0.9668</a:t>
            </a:r>
          </a:p>
          <a:p>
            <a:pPr>
              <a:defRPr b="1" sz="1100">
                <a:solidFill>
                  <a:srgbClr val="0F2341"/>
                </a:solidFill>
              </a:defRPr>
            </a:pPr>
            <a:r>
              <a:t>Macro F1-Score</a:t>
            </a:r>
          </a:p>
          <a:p>
            <a:pPr>
              <a:defRPr sz="950">
                <a:solidFill>
                  <a:srgbClr val="64748B"/>
                </a:solidFill>
              </a:defRPr>
            </a:pPr>
            <a:r>
              <a:t>Unweighted class mean</a:t>
            </a:r>
          </a:p>
        </p:txBody>
      </p:sp>
      <p:sp>
        <p:nvSpPr>
          <p:cNvPr id="7" name="Rounded Rectangle 6"/>
          <p:cNvSpPr/>
          <p:nvPr/>
        </p:nvSpPr>
        <p:spPr>
          <a:xfrm>
            <a:off x="6126480" y="1463040"/>
            <a:ext cx="260604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b="1" sz="2400">
                <a:solidFill>
                  <a:srgbClr val="0EA5A0"/>
                </a:solidFill>
                <a:latin typeface="Arial"/>
              </a:defRPr>
            </a:pPr>
            <a:r>
              <a:t>0.9740</a:t>
            </a:r>
          </a:p>
          <a:p>
            <a:pPr>
              <a:defRPr b="1" sz="1100">
                <a:solidFill>
                  <a:srgbClr val="0F2341"/>
                </a:solidFill>
              </a:defRPr>
            </a:pPr>
            <a:r>
              <a:t>Weighted F1-Score</a:t>
            </a:r>
          </a:p>
          <a:p>
            <a:pPr>
              <a:defRPr sz="950">
                <a:solidFill>
                  <a:srgbClr val="64748B"/>
                </a:solidFill>
              </a:defRPr>
            </a:pPr>
            <a:r>
              <a:t>Support-weighted mean</a:t>
            </a:r>
          </a:p>
        </p:txBody>
      </p:sp>
      <p:sp>
        <p:nvSpPr>
          <p:cNvPr id="8" name="Rounded Rectangle 7"/>
          <p:cNvSpPr/>
          <p:nvPr/>
        </p:nvSpPr>
        <p:spPr>
          <a:xfrm>
            <a:off x="8823960" y="1463040"/>
            <a:ext cx="260604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b="1" sz="2400">
                <a:solidFill>
                  <a:srgbClr val="0EA5A0"/>
                </a:solidFill>
                <a:latin typeface="Arial"/>
              </a:defRPr>
            </a:pPr>
            <a:r>
              <a:t>0.9986</a:t>
            </a:r>
          </a:p>
          <a:p>
            <a:pPr>
              <a:defRPr b="1" sz="1100">
                <a:solidFill>
                  <a:srgbClr val="0F2341"/>
                </a:solidFill>
              </a:defRPr>
            </a:pPr>
            <a:r>
              <a:t>Macro ROC-AUC</a:t>
            </a:r>
          </a:p>
          <a:p>
            <a:pPr>
              <a:defRPr sz="950">
                <a:solidFill>
                  <a:srgbClr val="64748B"/>
                </a:solidFill>
              </a:defRPr>
            </a:pPr>
            <a:r>
              <a:t>Near-perfect discrimination</a:t>
            </a:r>
          </a:p>
        </p:txBody>
      </p:sp>
      <p:sp>
        <p:nvSpPr>
          <p:cNvPr id="9" name="Rounded Rectangle 8"/>
          <p:cNvSpPr/>
          <p:nvPr/>
        </p:nvSpPr>
        <p:spPr>
          <a:xfrm>
            <a:off x="731520" y="3200400"/>
            <a:ext cx="10728655"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b="1" sz="1400">
                <a:solidFill>
                  <a:srgbClr val="0F2341"/>
                </a:solidFill>
              </a:defRPr>
            </a:pPr>
            <a:r>
              <a:t>Authoritative Evaluation Standards (Derived from metrics.json)</a:t>
            </a:r>
          </a:p>
          <a:p>
            <a:pPr>
              <a:spcBef>
                <a:spcPts val="800"/>
              </a:spcBef>
              <a:defRPr sz="1100">
                <a:solidFill>
                  <a:srgbClr val="1E293B"/>
                </a:solidFill>
              </a:defRPr>
            </a:pPr>
            <a:r>
              <a:t>• Macro-Averaging vs Weighted-Averaging:</a:t>
            </a:r>
            <a:br/>
            <a:r>
              <a:t>  Macro metrics evaluate all 5 diseases equally regardless of sample frequency, proving the system does not inflate accuracy by merely favoring the majority 'Normal' class. The Macro F1 of 0.9668 confirms high diagnostic balance.</a:t>
            </a:r>
            <a:br/>
            <a:br/>
            <a:r>
              <a:t>• Standalone Model Comparison:</a:t>
            </a:r>
            <a:br/>
            <a:r>
              <a:t>  - Model V1 (Original ResNet50):  Accuracy = 96.08%  (2,623 / 2,730 correct)</a:t>
            </a:r>
            <a:br/>
            <a:r>
              <a:t>  - Model V3 (Fine-tuned ResNet50): Accuracy = 97.18%  (2,653 / 2,730 correct)</a:t>
            </a:r>
            <a:br/>
            <a:r>
              <a:t>  - Ensemble (V1 + V3 Average):    Accuracy = 97.40%  (2,659 / 2,730 correct) — best across all metrics.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EA5A0"/>
                </a:solidFill>
                <a:latin typeface="Arial"/>
              </a:defRPr>
            </a:pPr>
            <a:r>
              <a:t>ZERO FALSE-NEGATIVE LUNG OPACITIES &amp; ROBUST CURVES</a:t>
            </a:r>
          </a:p>
          <a:p>
            <a:pPr>
              <a:defRPr sz="2200" b="1">
                <a:solidFill>
                  <a:srgbClr val="0F2341"/>
                </a:solidFill>
                <a:latin typeface="Arial"/>
              </a:defRPr>
            </a:pPr>
            <a:r>
              <a:t>Verified Class-Wise Performance &amp; ROC Analysis</a:t>
            </a:r>
          </a:p>
        </p:txBody>
      </p:sp>
      <p:sp>
        <p:nvSpPr>
          <p:cNvPr id="4" name="Rectangle 3"/>
          <p:cNvSpPr/>
          <p:nvPr/>
        </p:nvSpPr>
        <p:spPr>
          <a:xfrm>
            <a:off x="731520" y="6400800"/>
            <a:ext cx="10728655"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64748B"/>
                </a:solidFill>
                <a:latin typeface="Arial"/>
              </a:defRPr>
            </a:pPr>
            <a:r>
              <a:t>Chest X-Ray Multi-Disease Detection &amp; Grad-CAM Explainability | B.Tech Major Project</a:t>
            </a:r>
          </a:p>
        </p:txBody>
      </p:sp>
      <p:sp>
        <p:nvSpPr>
          <p:cNvPr id="5" name="Rounded Rectangle 4"/>
          <p:cNvSpPr/>
          <p:nvPr/>
        </p:nvSpPr>
        <p:spPr>
          <a:xfrm>
            <a:off x="731520" y="1463040"/>
            <a:ext cx="53035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b="1" sz="1300">
                <a:solidFill>
                  <a:srgbClr val="0F2341"/>
                </a:solidFill>
              </a:defRPr>
            </a:pPr>
            <a:r>
              <a:t>Class-Wise Metrics Table (Test N=2,730)</a:t>
            </a:r>
          </a:p>
          <a:p>
            <a:pPr>
              <a:spcBef>
                <a:spcPts val="800"/>
              </a:spcBef>
              <a:defRPr sz="1100">
                <a:solidFill>
                  <a:srgbClr val="1E293B"/>
                </a:solidFill>
              </a:defRPr>
            </a:pPr>
            <a:r>
              <a:t>• Lung Opacity (Support: 352):</a:t>
            </a:r>
            <a:br/>
            <a:r>
              <a:t>  Precision: 100.00% | Recall: 100.00% | F1: 100.00%</a:t>
            </a:r>
            <a:br/>
            <a:br/>
            <a:r>
              <a:t>• Normal (Support: 1,529):</a:t>
            </a:r>
            <a:br/>
            <a:r>
              <a:t>  Precision: 98.23% | Recall: 97.97% | F1: 98.10%</a:t>
            </a:r>
            <a:br/>
            <a:br/>
            <a:r>
              <a:t>• Pneumonia (Support: 201):</a:t>
            </a:r>
            <a:br/>
            <a:r>
              <a:t>  Precision: 96.53% | Recall: 97.01% | F1: 96.77%</a:t>
            </a:r>
            <a:br/>
            <a:br/>
            <a:r>
              <a:t>• COVID-19 (Support: 543):</a:t>
            </a:r>
            <a:br/>
            <a:r>
              <a:t>  Precision: 94.50% | Recall: 94.84% | F1: 94.67%</a:t>
            </a:r>
            <a:br/>
            <a:br/>
            <a:r>
              <a:t>• Tuberculosis (Support: 105):</a:t>
            </a:r>
            <a:br/>
            <a:r>
              <a:t>  Precision: 93.40% | Recall: 94.29% | F1: 93.84%</a:t>
            </a:r>
          </a:p>
        </p:txBody>
      </p:sp>
      <p:pic>
        <p:nvPicPr>
          <p:cNvPr id="6" name="Picture 5" descr="confusion_matrix.png"/>
          <p:cNvPicPr>
            <a:picLocks noChangeAspect="1"/>
          </p:cNvPicPr>
          <p:nvPr/>
        </p:nvPicPr>
        <p:blipFill>
          <a:blip r:embed="rId2"/>
          <a:stretch>
            <a:fillRect/>
          </a:stretch>
        </p:blipFill>
        <p:spPr>
          <a:xfrm>
            <a:off x="6309360" y="1463040"/>
            <a:ext cx="2560320" cy="2080260"/>
          </a:xfrm>
          <a:prstGeom prst="rect">
            <a:avLst/>
          </a:prstGeom>
        </p:spPr>
      </p:pic>
      <p:sp>
        <p:nvSpPr>
          <p:cNvPr id="7" name="TextBox 6"/>
          <p:cNvSpPr txBox="1"/>
          <p:nvPr/>
        </p:nvSpPr>
        <p:spPr>
          <a:xfrm>
            <a:off x="6309360" y="5303520"/>
            <a:ext cx="5212080" cy="731520"/>
          </a:xfrm>
          <a:prstGeom prst="rect">
            <a:avLst/>
          </a:prstGeom>
          <a:noFill/>
        </p:spPr>
        <p:txBody>
          <a:bodyPr wrap="square">
            <a:spAutoFit/>
          </a:bodyPr>
          <a:lstStyle/>
          <a:p>
            <a:pPr>
              <a:defRPr sz="1000">
                <a:solidFill>
                  <a:srgbClr val="64748B"/>
                </a:solidFill>
              </a:defRPr>
            </a:pPr>
            <a:r>
              <a:t>Figure 11.1: Official Confusion Matrix (left) and Multi-Class ROC Curves (right), displaying near-perfect area under curve (Macro ROC-AUC = 0.9986).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EA5A0"/>
                </a:solidFill>
                <a:latin typeface="Arial"/>
              </a:defRPr>
            </a:pPr>
            <a:r>
              <a:t>BENCHMARKED ON LOCAL CPU HARDWARE</a:t>
            </a:r>
          </a:p>
          <a:p>
            <a:pPr>
              <a:defRPr sz="2200" b="1">
                <a:solidFill>
                  <a:srgbClr val="0F2341"/>
                </a:solidFill>
                <a:latin typeface="Arial"/>
              </a:defRPr>
            </a:pPr>
            <a:r>
              <a:t>Runtime Performance &amp; Computational Profiling</a:t>
            </a:r>
          </a:p>
        </p:txBody>
      </p:sp>
      <p:sp>
        <p:nvSpPr>
          <p:cNvPr id="4" name="Rectangle 3"/>
          <p:cNvSpPr/>
          <p:nvPr/>
        </p:nvSpPr>
        <p:spPr>
          <a:xfrm>
            <a:off x="731520" y="6400800"/>
            <a:ext cx="10728655"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64748B"/>
                </a:solidFill>
                <a:latin typeface="Arial"/>
              </a:defRPr>
            </a:pPr>
            <a:r>
              <a:t>Chest X-Ray Multi-Disease Detection &amp; Grad-CAM Explainability | B.Tech Major Project</a:t>
            </a:r>
          </a:p>
        </p:txBody>
      </p:sp>
      <p:sp>
        <p:nvSpPr>
          <p:cNvPr id="5" name="Rounded Rectangle 4"/>
          <p:cNvSpPr/>
          <p:nvPr/>
        </p:nvSpPr>
        <p:spPr>
          <a:xfrm>
            <a:off x="7315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b="1" sz="1500">
                <a:solidFill>
                  <a:srgbClr val="0F2341"/>
                </a:solidFill>
              </a:defRPr>
            </a:pPr>
            <a:r>
              <a:t>Local Hardware Benchmark Profile</a:t>
            </a:r>
          </a:p>
          <a:p>
            <a:pPr>
              <a:spcBef>
                <a:spcPts val="1000"/>
              </a:spcBef>
              <a:defRPr sz="1150">
                <a:solidFill>
                  <a:srgbClr val="1E293B"/>
                </a:solidFill>
              </a:defRPr>
            </a:pPr>
            <a:r>
              <a:t>Audited on local Intel Core CPU execution environment (without GPU acceleration):</a:t>
            </a:r>
            <a:br/>
            <a:br/>
            <a:r>
              <a:t>• Image Decoding &amp; Preprocessing:  ~30 ms</a:t>
            </a:r>
            <a:br/>
            <a:r>
              <a:t>  Resizing, byte parsing, channel replication.</a:t>
            </a:r>
            <a:br/>
            <a:br/>
            <a:r>
              <a:t>• Dual ResNet50 Ensemble Inference:  ~675 ms</a:t>
            </a:r>
            <a:br/>
            <a:r>
              <a:t>  Sequential forward passes of V1 + V3 models and probability vector averaging.</a:t>
            </a:r>
            <a:br/>
            <a:br/>
            <a:r>
              <a:t>• Grad-CAM Saliency Computation:  ~825 ms</a:t>
            </a:r>
            <a:br/>
            <a:r>
              <a:t>  Backpropagating gradients to conv5_block3_3_conv and alpha blending heatmap.</a:t>
            </a:r>
            <a:br/>
            <a:br/>
            <a:r>
              <a:t>• Total Processing Turnaround:  ~1.50 seconds</a:t>
            </a:r>
            <a:br/>
            <a:r>
              <a:t>  Exceeds standard 2-second clinical responsiveness requirement.</a:t>
            </a:r>
          </a:p>
        </p:txBody>
      </p:sp>
      <p:sp>
        <p:nvSpPr>
          <p:cNvPr id="6" name="Rounded Rectangle 5"/>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b="1" sz="1500">
                <a:solidFill>
                  <a:srgbClr val="0F2341"/>
                </a:solidFill>
              </a:defRPr>
            </a:pPr>
            <a:r>
              <a:t>CPU Optimization Strategies</a:t>
            </a:r>
          </a:p>
          <a:p>
            <a:pPr>
              <a:spcBef>
                <a:spcPts val="1000"/>
              </a:spcBef>
              <a:defRPr sz="1150">
                <a:solidFill>
                  <a:srgbClr val="1E293B"/>
                </a:solidFill>
              </a:defRPr>
            </a:pPr>
            <a:r>
              <a:t>• Model Pre-Warming:</a:t>
            </a:r>
            <a:br/>
            <a:r>
              <a:t>  Models are loaded and compiled during FastAPI startup. Zero disk I/O penalty occurs during incoming HTTP requests.</a:t>
            </a:r>
            <a:br/>
            <a:br/>
            <a:r>
              <a:t>• Asynchronous Thread Offloading:</a:t>
            </a:r>
            <a:br/>
            <a:r>
              <a:t>  CPU-heavy matrix operations execute inside Python's worker threads (`asyncio.to_thread`), preventing server lockup.</a:t>
            </a:r>
            <a:br/>
            <a:br/>
            <a:r>
              <a:t>• In-Memory Heatmap Streaming:</a:t>
            </a:r>
            <a:br/>
            <a:r>
              <a:t>  Grad-CAM heatmaps are converted directly to base64 data URIs in RAM without writing temporary files to storage.</a:t>
            </a:r>
            <a:br/>
            <a:br/>
            <a:r>
              <a:t>• Future GPU Acceleration:</a:t>
            </a:r>
            <a:br/>
            <a:r>
              <a:t>  With NVIDIA CUDA deployment, inference latency will drop below 60 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EA5A0"/>
                </a:solidFill>
                <a:latin typeface="Arial"/>
              </a:defRPr>
            </a:pPr>
            <a:r>
              <a:t>GENUINE SCREENSHOTS OF VERIFIED FULL-STACK PROTOTYPE</a:t>
            </a:r>
          </a:p>
          <a:p>
            <a:pPr>
              <a:defRPr sz="2200" b="1">
                <a:solidFill>
                  <a:srgbClr val="0F2341"/>
                </a:solidFill>
                <a:latin typeface="Arial"/>
              </a:defRPr>
            </a:pPr>
            <a:r>
              <a:t>Application Showcase &amp; Clinical User Journey</a:t>
            </a:r>
          </a:p>
        </p:txBody>
      </p:sp>
      <p:sp>
        <p:nvSpPr>
          <p:cNvPr id="4" name="Rectangle 3"/>
          <p:cNvSpPr/>
          <p:nvPr/>
        </p:nvSpPr>
        <p:spPr>
          <a:xfrm>
            <a:off x="731520" y="6400800"/>
            <a:ext cx="10728655"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64748B"/>
                </a:solidFill>
                <a:latin typeface="Arial"/>
              </a:defRPr>
            </a:pPr>
            <a:r>
              <a:t>Chest X-Ray Multi-Disease Detection &amp; Grad-CAM Explainability | B.Tech Major Project</a:t>
            </a:r>
          </a:p>
        </p:txBody>
      </p:sp>
      <p:pic>
        <p:nvPicPr>
          <p:cNvPr id="5" name="Picture 4" descr="02_main_dashboard.png"/>
          <p:cNvPicPr>
            <a:picLocks noChangeAspect="1"/>
          </p:cNvPicPr>
          <p:nvPr/>
        </p:nvPicPr>
        <p:blipFill>
          <a:blip r:embed="rId2"/>
          <a:stretch>
            <a:fillRect/>
          </a:stretch>
        </p:blipFill>
        <p:spPr>
          <a:xfrm>
            <a:off x="731520" y="1463040"/>
            <a:ext cx="5212080" cy="3257550"/>
          </a:xfrm>
          <a:prstGeom prst="rect">
            <a:avLst/>
          </a:prstGeom>
        </p:spPr>
      </p:pic>
      <p:sp>
        <p:nvSpPr>
          <p:cNvPr id="6" name="TextBox 5"/>
          <p:cNvSpPr txBox="1"/>
          <p:nvPr/>
        </p:nvSpPr>
        <p:spPr>
          <a:xfrm>
            <a:off x="731520" y="5120640"/>
            <a:ext cx="5212080" cy="731520"/>
          </a:xfrm>
          <a:prstGeom prst="rect">
            <a:avLst/>
          </a:prstGeom>
          <a:noFill/>
        </p:spPr>
        <p:txBody>
          <a:bodyPr wrap="square">
            <a:spAutoFit/>
          </a:bodyPr>
          <a:lstStyle/>
          <a:p>
            <a:pPr>
              <a:defRPr sz="1050">
                <a:solidFill>
                  <a:srgbClr val="1E293B"/>
                </a:solidFill>
              </a:defRPr>
            </a:pPr>
            <a:r>
              <a:t>Dashboard: System model status, class metrics summary, live latency counters, and quick triage upload.</a:t>
            </a:r>
          </a:p>
        </p:txBody>
      </p:sp>
      <p:pic>
        <p:nvPicPr>
          <p:cNvPr id="7" name="Picture 6" descr="04_prediction_results.png"/>
          <p:cNvPicPr>
            <a:picLocks noChangeAspect="1"/>
          </p:cNvPicPr>
          <p:nvPr/>
        </p:nvPicPr>
        <p:blipFill>
          <a:blip r:embed="rId3"/>
          <a:stretch>
            <a:fillRect/>
          </a:stretch>
        </p:blipFill>
        <p:spPr>
          <a:xfrm>
            <a:off x="6217920" y="1463040"/>
            <a:ext cx="5212080" cy="3257550"/>
          </a:xfrm>
          <a:prstGeom prst="rect">
            <a:avLst/>
          </a:prstGeom>
        </p:spPr>
      </p:pic>
      <p:sp>
        <p:nvSpPr>
          <p:cNvPr id="8" name="TextBox 7"/>
          <p:cNvSpPr txBox="1"/>
          <p:nvPr/>
        </p:nvSpPr>
        <p:spPr>
          <a:xfrm>
            <a:off x="6217920" y="5120640"/>
            <a:ext cx="5212080" cy="731520"/>
          </a:xfrm>
          <a:prstGeom prst="rect">
            <a:avLst/>
          </a:prstGeom>
          <a:noFill/>
        </p:spPr>
        <p:txBody>
          <a:bodyPr wrap="square">
            <a:spAutoFit/>
          </a:bodyPr>
          <a:lstStyle/>
          <a:p>
            <a:pPr>
              <a:defRPr sz="1050">
                <a:solidFill>
                  <a:srgbClr val="1E293B"/>
                </a:solidFill>
              </a:defRPr>
            </a:pPr>
            <a:r>
              <a:t>Diagnostic View: Predicted class confidence, ranked disease probabilities, and doctor review triage actions.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EA5A0"/>
                </a:solidFill>
                <a:latin typeface="Arial"/>
              </a:defRPr>
            </a:pPr>
            <a:r>
              <a:t>DISCLOSED VULNERABILITIES &amp; RIGOROUS AUDIT</a:t>
            </a:r>
          </a:p>
          <a:p>
            <a:pPr>
              <a:defRPr sz="2200" b="1">
                <a:solidFill>
                  <a:srgbClr val="0F2341"/>
                </a:solidFill>
                <a:latin typeface="Arial"/>
              </a:defRPr>
            </a:pPr>
            <a:r>
              <a:t>Research Limitations &amp; Scientific Transparency</a:t>
            </a:r>
          </a:p>
        </p:txBody>
      </p:sp>
      <p:sp>
        <p:nvSpPr>
          <p:cNvPr id="4" name="Rectangle 3"/>
          <p:cNvSpPr/>
          <p:nvPr/>
        </p:nvSpPr>
        <p:spPr>
          <a:xfrm>
            <a:off x="731520" y="6400800"/>
            <a:ext cx="10728655"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64748B"/>
                </a:solidFill>
                <a:latin typeface="Arial"/>
              </a:defRPr>
            </a:pPr>
            <a:r>
              <a:t>Chest X-Ray Multi-Disease Detection &amp; Grad-CAM Explainability | B.Tech Major Project</a:t>
            </a:r>
          </a:p>
        </p:txBody>
      </p:sp>
      <p:sp>
        <p:nvSpPr>
          <p:cNvPr id="5" name="Rounded Rectangle 4"/>
          <p:cNvSpPr/>
          <p:nvPr/>
        </p:nvSpPr>
        <p:spPr>
          <a:xfrm>
            <a:off x="731520" y="1463040"/>
            <a:ext cx="10728655" cy="137160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defRPr b="1" sz="1300">
                <a:solidFill>
                  <a:srgbClr val="92400E"/>
                </a:solidFill>
              </a:defRPr>
            </a:pPr>
            <a:r>
              <a:t>• Nine Exact Cross-Split Duplicate Images (9 Pairs)</a:t>
            </a:r>
          </a:p>
          <a:p>
            <a:pPr>
              <a:spcBef>
                <a:spcPts val="400"/>
              </a:spcBef>
              <a:defRPr sz="1100">
                <a:solidFill>
                  <a:srgbClr val="1E293B"/>
                </a:solidFill>
              </a:defRPr>
            </a:pPr>
            <a:r>
              <a:t>A byte-for-byte MD5 hash audit identified nine exact duplicate images (9 pairs) shared between the training (12,740) and testing (2,730) manifests (0.049%). While minimal, transparent scientific reporting acknowledges this potential source of evaluation bias.</a:t>
            </a:r>
          </a:p>
        </p:txBody>
      </p:sp>
      <p:sp>
        <p:nvSpPr>
          <p:cNvPr id="6" name="Rounded Rectangle 5"/>
          <p:cNvSpPr/>
          <p:nvPr/>
        </p:nvSpPr>
        <p:spPr>
          <a:xfrm>
            <a:off x="731520" y="3017520"/>
            <a:ext cx="10728655" cy="137160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defRPr b="1" sz="1300">
                <a:solidFill>
                  <a:srgbClr val="92400E"/>
                </a:solidFill>
              </a:defRPr>
            </a:pPr>
            <a:r>
              <a:t>• Absence of Patient Identifiers</a:t>
            </a:r>
          </a:p>
          <a:p>
            <a:pPr>
              <a:spcBef>
                <a:spcPts val="400"/>
              </a:spcBef>
              <a:defRPr sz="1100">
                <a:solidFill>
                  <a:srgbClr val="1E293B"/>
                </a:solidFill>
              </a:defRPr>
            </a:pPr>
            <a:r>
              <a:t>Publicly available CXR databases omit patient identifiers. As a result, split independence is image-level rather than patient-level, meaning multiple radiographs from the same patient could potentially exist across splits.</a:t>
            </a:r>
          </a:p>
        </p:txBody>
      </p:sp>
      <p:sp>
        <p:nvSpPr>
          <p:cNvPr id="7" name="Rounded Rectangle 6"/>
          <p:cNvSpPr/>
          <p:nvPr/>
        </p:nvSpPr>
        <p:spPr>
          <a:xfrm>
            <a:off x="731520" y="4572000"/>
            <a:ext cx="10728655" cy="137160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defRPr b="1" sz="1300">
                <a:solidFill>
                  <a:srgbClr val="92400E"/>
                </a:solidFill>
              </a:defRPr>
            </a:pPr>
            <a:r>
              <a:t>• Grad-CAM Architectural Disconnect &amp; Non-Clinical Status</a:t>
            </a:r>
          </a:p>
          <a:p>
            <a:pPr>
              <a:spcBef>
                <a:spcPts val="400"/>
              </a:spcBef>
              <a:defRPr sz="1100">
                <a:solidFill>
                  <a:srgbClr val="1E293B"/>
                </a:solidFill>
              </a:defRPr>
            </a:pPr>
            <a:r>
              <a:t>Grad-CAM computes saliency with respect to Model V3 specifically rather than the joint mathematical ensemble. Additionally, this system is strictly an academic prototype and is NOT clinically validated for medical diagnosis.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0EA5A0"/>
                </a:solidFill>
                <a:latin typeface="Arial"/>
              </a:defRPr>
            </a:pPr>
            <a:r>
              <a:t>SUMMARY OF CONTRIBUTIONS &amp; ROADMAP AHEAD</a:t>
            </a:r>
          </a:p>
          <a:p>
            <a:pPr>
              <a:defRPr sz="2200" b="1">
                <a:solidFill>
                  <a:srgbClr val="0F2341"/>
                </a:solidFill>
                <a:latin typeface="Arial"/>
              </a:defRPr>
            </a:pPr>
            <a:r>
              <a:t>Conclusions &amp; Future Research Directions</a:t>
            </a:r>
          </a:p>
        </p:txBody>
      </p:sp>
      <p:sp>
        <p:nvSpPr>
          <p:cNvPr id="4" name="Rectangle 3"/>
          <p:cNvSpPr/>
          <p:nvPr/>
        </p:nvSpPr>
        <p:spPr>
          <a:xfrm>
            <a:off x="731520" y="6400800"/>
            <a:ext cx="10728655"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64748B"/>
                </a:solidFill>
                <a:latin typeface="Arial"/>
              </a:defRPr>
            </a:pPr>
            <a:r>
              <a:t>Chest X-Ray Multi-Disease Detection &amp; Grad-CAM Explainability | B.Tech Major Project</a:t>
            </a:r>
          </a:p>
        </p:txBody>
      </p:sp>
      <p:sp>
        <p:nvSpPr>
          <p:cNvPr id="5" name="Rounded Rectangle 4"/>
          <p:cNvSpPr/>
          <p:nvPr/>
        </p:nvSpPr>
        <p:spPr>
          <a:xfrm>
            <a:off x="7315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b="1" sz="1500">
                <a:solidFill>
                  <a:srgbClr val="0F2341"/>
                </a:solidFill>
              </a:defRPr>
            </a:pPr>
            <a:r>
              <a:t>Key Project Achievements</a:t>
            </a:r>
          </a:p>
          <a:p>
            <a:pPr>
              <a:spcBef>
                <a:spcPts val="800"/>
              </a:spcBef>
              <a:defRPr sz="1100">
                <a:solidFill>
                  <a:srgbClr val="1E293B"/>
                </a:solidFill>
              </a:defRPr>
            </a:pPr>
            <a:r>
              <a:t>• 97.40% Verified Ensemble Accuracy:</a:t>
            </a:r>
            <a:br/>
            <a:r>
              <a:t>  Demonstrated strong classification across 2,730 unseen test images with 0.9668 Macro F1 and 0.9986 ROC-AUC.</a:t>
            </a:r>
            <a:br/>
            <a:br/>
            <a:r>
              <a:t>• Transparent Explainability:</a:t>
            </a:r>
            <a:br/>
            <a:r>
              <a:t>  Coupled predictions with visual Grad-CAM heatmaps to localize pathological consolidations.</a:t>
            </a:r>
            <a:br/>
            <a:br/>
            <a:r>
              <a:t>• Complete Full-Stack Solution:</a:t>
            </a:r>
            <a:br/>
            <a:r>
              <a:t>  Built a responsive, production-built web application with doctor review actions and history tracking.</a:t>
            </a:r>
            <a:br/>
            <a:br/>
            <a:r>
              <a:t>• Academic Honesty:</a:t>
            </a:r>
            <a:br/>
            <a:r>
              <a:t>  Full disclosure of duplicates, patient ID limitations, and architectural trade-offs.</a:t>
            </a:r>
          </a:p>
        </p:txBody>
      </p:sp>
      <p:sp>
        <p:nvSpPr>
          <p:cNvPr id="6" name="Rounded Rectangle 5"/>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defRPr b="1" sz="1500">
                <a:solidFill>
                  <a:srgbClr val="0F2341"/>
                </a:solidFill>
              </a:defRPr>
            </a:pPr>
            <a:r>
              <a:t>Future Technical Roadmap</a:t>
            </a:r>
          </a:p>
          <a:p>
            <a:pPr>
              <a:spcBef>
                <a:spcPts val="800"/>
              </a:spcBef>
              <a:defRPr sz="1100">
                <a:solidFill>
                  <a:srgbClr val="1E293B"/>
                </a:solidFill>
              </a:defRPr>
            </a:pPr>
            <a:r>
              <a:t>• Hospital PACS &amp; DICOM Integration:</a:t>
            </a:r>
            <a:br/>
            <a:r>
              <a:t>  Direct ingestion of 16-bit DICOM digital radiographs from hospital picture archiving systems.</a:t>
            </a:r>
            <a:br/>
            <a:br/>
            <a:r>
              <a:t>• True Ensemble Saliency Explanations:</a:t>
            </a:r>
            <a:br/>
            <a:r>
              <a:t>  Implement Integrated Gradients or Attention Rollout across both models simultaneously.</a:t>
            </a:r>
            <a:br/>
            <a:br/>
            <a:r>
              <a:t>• Multi-Center Clinical Trials:</a:t>
            </a:r>
            <a:br/>
            <a:r>
              <a:t>  Prospective institutional validation on hospital-acquired cohorts with strict patient identifiers.</a:t>
            </a:r>
            <a:br/>
            <a:br/>
            <a:r>
              <a:t>• Multi-Modal AI:</a:t>
            </a:r>
            <a:br/>
            <a:r>
              <a:t>  Integrate patient vitals, lab reports, and demographic clinical data with image representations.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